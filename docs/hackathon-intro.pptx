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731520"/>
            <a:ext cx="5943600" cy="5943600"/>
          </a:xfrm>
          <a:prstGeom prst="ellipse">
            <a:avLst/>
          </a:prstGeom>
          <a:solidFill>
            <a:srgbClr val="243D70">
              <a:alpha val="50000"/>
            </a:srgbClr>
          </a:solidFill>
          <a:ln w="12700">
            <a:solidFill>
              <a:srgbClr val="243D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1A2F58">
              <a:alpha val="60000"/>
            </a:srgbClr>
          </a:solidFill>
          <a:ln w="12700">
            <a:solidFill>
              <a:srgbClr val="1A2F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分行神隊友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個金 Co-Pilot 領航員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5029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87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驅動的銀行貸款審核平台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077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黑客松 Demo  ✦  Taiwan Cooperative Bank ×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03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370332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3703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370332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703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Bot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370332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703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703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35240" y="370332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3703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233F"/>
          </a:solidFill>
          <a:ln w="12700">
            <a:solidFill>
              <a:srgbClr val="142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個 Pilot Crew  ·  全自動徵審  ·  5 分鐘出批覆書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行員每天在面對什麼？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四大痛點，每天消耗行員 60% 的工作時間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02996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029968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170432"/>
            <a:ext cx="585216" cy="5852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1874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房貸鑑估等 2 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377440"/>
            <a:ext cx="17739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客戶問「我能貸多少？」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行員翻 Excel、打電話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聯絡鑑估單位、等候報告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 1-2 個工作天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1005840"/>
            <a:ext cx="202996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005840"/>
            <a:ext cx="2029968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45536" y="1170432"/>
            <a:ext cx="585216" cy="58521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5536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1874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手工計算 DBR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51176" y="2377440"/>
            <a:ext cx="17739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信貸客戶問「我符合嗎？」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行員手工算 DBR / 負債比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查詢授信規章條文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容易計算錯誤或遺漏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90288" y="1005840"/>
            <a:ext cx="202996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0288" y="1005840"/>
            <a:ext cx="2029968" cy="7315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12664" y="1170432"/>
            <a:ext cx="585216" cy="585216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12664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81728" y="1874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法規記憶負擔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8304" y="2377440"/>
            <a:ext cx="17739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央行政策頻繁調整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成數限制、戶數規定複雜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行員容易記錯、查錯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有違規風險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57416" y="1005840"/>
            <a:ext cx="202996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57416" y="1005840"/>
            <a:ext cx="2029968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1170432"/>
            <a:ext cx="585216" cy="58521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48856" y="1874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人工風控盲點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5432" y="2377440"/>
            <a:ext cx="17739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人工審核難識別異常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詐騙手法多樣化演進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身分偽造、人頭帳戶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單靠經驗難以全面防範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4617720"/>
            <a:ext cx="8631936" cy="393192"/>
          </a:xfrm>
          <a:prstGeom prst="rect">
            <a:avLst/>
          </a:prstGeom>
          <a:solidFill>
            <a:srgbClr val="FBF3D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617720"/>
            <a:ext cx="8631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行員每天花 60% 時間「查資料、算數字」，真正服務客戶的時間不到 40%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 領航員的角色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當副駕駛，行員專注決策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914400"/>
            <a:ext cx="5852160" cy="475488"/>
          </a:xfrm>
          <a:prstGeom prst="rect">
            <a:avLst/>
          </a:prstGeom>
          <a:solidFill>
            <a:srgbClr val="FBF3D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91440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副駕駛 + 行員機長 = 最強分行神隊友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508760"/>
            <a:ext cx="27432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087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智能對話推薦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02082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6 客服領航員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Bot 5 分鐘完成需求分析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推薦青安/國軍/一般產品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生成個人化推薦說明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視覺海報一鍵分享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508760"/>
            <a:ext cx="274320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5087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全自動徵審引擎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202082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1-5 + Crew 7 協作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331720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ML 估算房產市值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 評分 + DBR/負債比計算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防詐 5 大防線全面查核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自動生成批覆書 PDF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4768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508760"/>
            <a:ext cx="2743200" cy="47548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5087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即時法規問答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4496" y="202082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3 法規領航員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2331720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三層知識庫架構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央行規定、政策貸款規章即查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合成 + 信心度標示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分鐘熱快取加速回應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 — 四層設計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從客戶端到 AI 引擎，端到端整合；指揮艙依貸款類型動態召集 Crew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8631936" cy="841248"/>
          </a:xfrm>
          <a:prstGeom prst="rect">
            <a:avLst/>
          </a:prstGeom>
          <a:solidFill>
            <a:srgbClr val="E8F4FD"/>
          </a:solidFill>
          <a:ln w="19050">
            <a:solidFill>
              <a:srgbClr val="5DA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1440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  客戶端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1097280"/>
            <a:ext cx="27432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914400"/>
            <a:ext cx="5669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Bot 對話  ·  LIFF 前端表單  ·  視覺海報生成與分享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173736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8412480" cy="841248"/>
          </a:xfrm>
          <a:prstGeom prst="rect">
            <a:avLst/>
          </a:prstGeom>
          <a:solidFill>
            <a:srgbClr val="1B3A6B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" y="187452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  Co-Pilot 指揮艙（後端）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72968" y="2057400"/>
            <a:ext cx="27432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874520"/>
            <a:ext cx="55595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  ·  MAF 多 Agent 工作流  ·  7 個 Pilot Crew 統一調度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0560" y="269748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" y="2834640"/>
            <a:ext cx="8193024" cy="841248"/>
          </a:xfrm>
          <a:prstGeom prst="rect">
            <a:avLst/>
          </a:prstGeom>
          <a:solidFill>
            <a:srgbClr val="1A5276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" y="283464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  AI 引擎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82696" y="3017520"/>
            <a:ext cx="27432" cy="475488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2834640"/>
            <a:ext cx="54498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FastAPI：XGBoost / LSTM / Monte Carlo 鑑價  ·  Claude claude-sonnet-4-6 API：RAG + Vision + 推薦說明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365760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5216" y="3794760"/>
            <a:ext cx="7973568" cy="841248"/>
          </a:xfrm>
          <a:prstGeom prst="rect">
            <a:avLst/>
          </a:prstGeom>
          <a:solidFill>
            <a:srgbClr val="145A32"/>
          </a:solidFill>
          <a:ln w="19050">
            <a:solidFill>
              <a:srgbClr val="145A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" y="37947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   資料層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92424" y="3977640"/>
            <a:ext cx="27432" cy="475488"/>
          </a:xfrm>
          <a:prstGeom prst="rect">
            <a:avLst/>
          </a:prstGeom>
          <a:solidFill>
            <a:srgbClr val="A9DFB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3794760"/>
            <a:ext cx="53400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本機（黑客松）  →  Azure Cosmos DB / AI Search（正式版）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4663440"/>
            <a:ext cx="8631936" cy="365760"/>
          </a:xfrm>
          <a:prstGeom prst="rect">
            <a:avLst/>
          </a:prstGeom>
          <a:solidFill>
            <a:srgbClr val="FBF3D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663440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指揮艙召集順序  |  房貸：文件 &gt; 法規 &gt; 鑑估 &gt; 徵信 &gt; 防詐 &gt; 審議   信貸：文件 &gt; 法規 &gt; 徵信 &gt; 防詐 &gt; 審議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個 Pilot Crew — 各司其職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 Crew 有明確輸入/輸出/職責邊界，指揮艙統一調度，互不直接呼叫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68680"/>
          <a:ext cx="8631936" cy="416052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3200400"/>
                <a:gridCol w="1920240"/>
                <a:gridCol w="1316736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核心功能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技術工具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觸發條件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徵信領航員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5P 評分、8 項信用查核、DBR / 負債比計算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規則引擎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所有案件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鑑估領航員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個別鑑價、LSTM 市場趨勢、Monte Carlo 模擬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FastAPI + 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房貸案件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法規領航員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查詢央行規定、政策性貸款規章（三層知識庫）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+ 知識庫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所有案件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審議領航員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彙整三階段結果、最終核准/婉拒建議與理由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規則聚合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所有案件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文件領航員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Vision 解析土地謄本、MyData 文件驗證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Vision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有文件案件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客服領航員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Bot 對話、產品推薦、視覺海報生成與分享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API + Canvas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前台申請流程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防詐領航員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身分防偽、黑名單掃描、異常申貸行為、LLM 交易分析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規則引擎 + 模擬資料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所有案件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 Demo 路徑（LINE Bot）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個步驟，5 分鐘完成申貸諮詢 + 視覺海報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600200" cy="3794760"/>
          </a:xfrm>
          <a:prstGeom prst="rect">
            <a:avLst/>
          </a:prstGeom>
          <a:solidFill>
            <a:srgbClr val="EBF4FF"/>
          </a:solidFill>
          <a:ln w="12700">
            <a:solidFill>
              <a:srgbClr val="BFD7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4380" y="105156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 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1417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輸入「申請貸款」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Co-Pilot Bot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Reply 導引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47088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65960" y="960120"/>
            <a:ext cx="1600200" cy="3794760"/>
          </a:xfrm>
          <a:prstGeom prst="rect">
            <a:avLst/>
          </a:prstGeom>
          <a:solidFill>
            <a:srgbClr val="EBF4FF"/>
          </a:solidFill>
          <a:ln w="12700">
            <a:solidFill>
              <a:srgbClr val="BFD7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1740" y="105156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17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1691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選貸款類型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2176272"/>
            <a:ext cx="1417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房貸 / 信貸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按鈕一鍵選擇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系統自動切換問答流程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84448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960120"/>
            <a:ext cx="1600200" cy="3794760"/>
          </a:xfrm>
          <a:prstGeom prst="rect">
            <a:avLst/>
          </a:prstGeom>
          <a:solidFill>
            <a:srgbClr val="EBF4FF"/>
          </a:solidFill>
          <a:ln w="12700">
            <a:solidFill>
              <a:srgbClr val="BFD7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29100" y="105156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91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94760" y="1691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問答收集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94760" y="2176272"/>
            <a:ext cx="1417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年齡、職業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月收入、金額、期限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房貸加問：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屋齡坪數樓層格局車位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21808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40680" y="960120"/>
            <a:ext cx="1600200" cy="3794760"/>
          </a:xfrm>
          <a:prstGeom prst="rect">
            <a:avLst/>
          </a:prstGeom>
          <a:solidFill>
            <a:srgbClr val="EBF4FF"/>
          </a:solidFill>
          <a:ln w="12700">
            <a:solidFill>
              <a:srgbClr val="BFD7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66460" y="1051560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646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1691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推薦產品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2176272"/>
            <a:ext cx="1417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青安/國軍/一般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月付金額 + 年利率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個人化推薦說明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59168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78040" y="960120"/>
            <a:ext cx="1600200" cy="3794760"/>
          </a:xfrm>
          <a:prstGeom prst="rect">
            <a:avLst/>
          </a:prstGeom>
          <a:solidFill>
            <a:srgbClr val="FBF3DC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03820" y="105156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038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16916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生成視覺海報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69480" y="2176272"/>
            <a:ext cx="1417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主力產品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交叉銷售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直接分享到 LINE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EBF4FF"/>
          </a:solidFill>
          <a:ln w="12700">
            <a:solidFill>
              <a:srgbClr val="BFD7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技術亮點：Claude API 推薦說明  ·  Canvas API 海報生成  ·  LINE ShareTargetPicker 一鍵分享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行員 Demo 路徑（後台管理介面）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個 Crew 依序亮燈，5 分鐘完成 AI 徵審，自動輸出批覆書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 LINE 推播通知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「新案件：王○○ 房貸 1,200 萬」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99032"/>
            <a:ext cx="36576" cy="3657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92224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92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73736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登入後台 &gt; 案件列表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點開案件詳情頁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36576" cy="3657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96896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542032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點擊「執行 AI 徵審」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個 Crew 自動依序執行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36576" cy="3657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01568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346704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下載批覆書 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含完整評分明細與建議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13048"/>
            <a:ext cx="36576" cy="36576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0624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151376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核准 / 婉拒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系統自動通知客戶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868680"/>
            <a:ext cx="3840480" cy="4160520"/>
          </a:xfrm>
          <a:prstGeom prst="rect">
            <a:avLst/>
          </a:prstGeom>
          <a:solidFill>
            <a:srgbClr val="F8F9FC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868680"/>
            <a:ext cx="3840480" cy="384048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徵審執行進度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66360" y="1344168"/>
            <a:ext cx="3657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0368" y="140817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1344168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5  文件解析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1344168"/>
            <a:ext cx="1417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謄本解析完成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66360" y="1952244"/>
            <a:ext cx="3657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2016252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2016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1952244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2  XGBoost 鑑估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1952244"/>
            <a:ext cx="1417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市值 2,150萬 LTV 55.8%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66360" y="2560320"/>
            <a:ext cx="3657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30368" y="2624328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2560320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1  5P 信用評分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60920" y="2560320"/>
            <a:ext cx="1417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低風險  DBR 8.2 倍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66360" y="3168396"/>
            <a:ext cx="3657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30368" y="3232404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32324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69280" y="3168396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3  法規查核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60920" y="3168396"/>
            <a:ext cx="1417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符合央行全部規定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66360" y="3776472"/>
            <a:ext cx="3657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30368" y="384048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3036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0" y="3776472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7  防詐查核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60920" y="3776472"/>
            <a:ext cx="1417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低風險  28 / 100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166360" y="4384548"/>
            <a:ext cx="36576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30368" y="444855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0368" y="44485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69280" y="4384548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4  審議小組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60920" y="4384548"/>
            <a:ext cx="1417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建議核准  調整 1,150萬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2 鑑估領航員 — 三層估價模型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個別鑑價 + LSTM 市場趨勢 + Monte Carlo 風險模擬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32688"/>
            <a:ext cx="6263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32688"/>
            <a:ext cx="62636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326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 XGBoost 個別物件鑑價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資料來源：內政部實價登錄 8 季（約 30 萬筆交易紀錄）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特徵：行政區、建物類型、坪數、屋齡、樓層、格局、車位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目標精度：MAPE 10-15%  |  Demo 階段：行政區查表回退機制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2212848"/>
            <a:ext cx="6263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212848"/>
            <a:ext cx="62636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1284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 LSTM 市場趨勢指數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輸入：9 個月歷史房價走勢（月度指數）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輸出：市場趨勢乘數，調整鑑估基準價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現狀：Demo Stub（假資料），正式版替換真實 LSTM 模型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3493008"/>
            <a:ext cx="62636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3493008"/>
            <a:ext cx="6263640" cy="34747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49300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 Monte Carlo 風險模擬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858768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路徑隨機模擬（整合 LSTM 趨勢 + XGBoost 基準）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輸出：P5 / P50 / P95 信心區間 + 建議市值 + LTV 成數 + 風險等級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48272" y="932688"/>
            <a:ext cx="2148840" cy="2907792"/>
          </a:xfrm>
          <a:prstGeom prst="rect">
            <a:avLst/>
          </a:prstGeom>
          <a:solidFill>
            <a:srgbClr val="FBF3D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48272" y="932688"/>
            <a:ext cx="214884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9326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最終輸出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1444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建議市值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14447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2,150 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成數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20391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55.8%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6334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信心區間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26334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P5~P95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32278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風險等級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32278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/ 中 / 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6032" y="4160520"/>
            <a:ext cx="8631936" cy="749808"/>
          </a:xfrm>
          <a:prstGeom prst="rect">
            <a:avLst/>
          </a:prstGeom>
          <a:solidFill>
            <a:srgbClr val="EBF4FF"/>
          </a:solidFill>
          <a:ln w="12700">
            <a:solidFill>
              <a:srgbClr val="BFD7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16052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黑客松狀態：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推論服務已完成（xgboostValuationService.py），待執行 fetch_lvpr.py 抓取資料 + train_xgboost.py 訓練模型，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模型訓練完成後將自動替換 Demo 查表模式，前端已完整整合 XGBoost API 端點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7 防詐領航員 — 5 大防線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1 問「還得起嗎？」/ Crew 7 問「是真實借款人嗎？」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1600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" y="1088136"/>
            <a:ext cx="585216" cy="585216"/>
          </a:xfrm>
          <a:prstGeom prst="ellipse">
            <a:avLst/>
          </a:prstGeom>
          <a:solidFill>
            <a:srgbClr val="1B3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" y="10881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764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身分認證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證件格式驗證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MyData 三要素比對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照片一致性（規則）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3794760"/>
            <a:ext cx="1097280" cy="274320"/>
          </a:xfrm>
          <a:prstGeom prst="rect">
            <a:avLst/>
          </a:prstGeom>
          <a:solidFill>
            <a:srgbClr val="FBF3D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權重 30%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4160520"/>
            <a:ext cx="109728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規則引擎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6596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65960" y="960120"/>
            <a:ext cx="1600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73452" y="1088136"/>
            <a:ext cx="585216" cy="585216"/>
          </a:xfrm>
          <a:prstGeom prst="ellipse">
            <a:avLst/>
          </a:prstGeom>
          <a:solidFill>
            <a:srgbClr val="1B3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3452" y="10881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57400" y="1764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黑名單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身分證/電話/地址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比對詐騙清單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聯徵拒絕往來戶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12848" y="3794760"/>
            <a:ext cx="1097280" cy="274320"/>
          </a:xfrm>
          <a:prstGeom prst="rect">
            <a:avLst/>
          </a:prstGeom>
          <a:solidFill>
            <a:srgbClr val="FBF3D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1284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權重 25%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12848" y="4160520"/>
            <a:ext cx="109728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12848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Mock 清單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960120"/>
            <a:ext cx="1600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10812" y="1088136"/>
            <a:ext cx="585216" cy="585216"/>
          </a:xfrm>
          <a:prstGeom prst="ellipse">
            <a:avLst/>
          </a:prstGeom>
          <a:solidFill>
            <a:srgbClr val="1B3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10812" y="10881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94760" y="1764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異常申貸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94760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項規則計分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短期多行申貸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金額/用途異常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50208" y="3794760"/>
            <a:ext cx="1097280" cy="274320"/>
          </a:xfrm>
          <a:prstGeom prst="rect">
            <a:avLst/>
          </a:prstGeom>
          <a:solidFill>
            <a:srgbClr val="FBF3D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權重 25%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50208" y="4160520"/>
            <a:ext cx="109728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0208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規則計分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40680" y="960120"/>
            <a:ext cx="1600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8172" y="1088136"/>
            <a:ext cx="585216" cy="585216"/>
          </a:xfrm>
          <a:prstGeom prst="ellipse">
            <a:avLst/>
          </a:prstGeom>
          <a:solidFill>
            <a:srgbClr val="1B3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8172" y="10881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532120" y="1764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交易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行為分析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32120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分析交易序列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薪轉後快速轉出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定期轉固定帳號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87568" y="3794760"/>
            <a:ext cx="1097280" cy="274320"/>
          </a:xfrm>
          <a:prstGeom prst="rect">
            <a:avLst/>
          </a:prstGeom>
          <a:solidFill>
            <a:srgbClr val="FBF3D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8756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權重 10%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87568" y="4160520"/>
            <a:ext cx="109728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7568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模擬資料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7804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178040" y="960120"/>
            <a:ext cx="160020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85532" y="1088136"/>
            <a:ext cx="585216" cy="585216"/>
          </a:xfrm>
          <a:prstGeom prst="ellipse">
            <a:avLst/>
          </a:prstGeom>
          <a:solidFill>
            <a:srgbClr val="1B3A6B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5532" y="10881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69480" y="176479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關聯網絡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69480" y="23774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共同擔保人異常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同地址多申請人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家族連鎖借貸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424928" y="3794760"/>
            <a:ext cx="1097280" cy="274320"/>
          </a:xfrm>
          <a:prstGeom prst="rect">
            <a:avLst/>
          </a:prstGeom>
          <a:solidFill>
            <a:srgbClr val="FBF3D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2492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權重 10%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24928" y="4160520"/>
            <a:ext cx="109728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24928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規則模擬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FBF3D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輸出：防詐評分 0-100 + 警示等級（低/中/高）+ 整合進批覆書第 7 節「防詐領航員評估結果」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目前開發進度（2026-03-29）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 72%，黑客松前聚焦 4 個關鍵待辦項目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40880" y="914400"/>
            <a:ext cx="1828800" cy="182880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9144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04088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整體進度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Node.js / TypeScript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10058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 —  Crew 7 程式碼待補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60350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71600"/>
            <a:ext cx="4948733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470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React / TypeScript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184708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 —  LIFF_ID 待設定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60350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12848"/>
            <a:ext cx="4707331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883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鑑價引擎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68833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 —  XGBoost 模型待訓練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54096"/>
            <a:ext cx="60350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54096"/>
            <a:ext cx="3319272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95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基礎建設 / 部署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35295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 —  本機可運行，Azure 待部署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95344"/>
            <a:ext cx="60350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95344"/>
            <a:ext cx="2715768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4407408"/>
            <a:ext cx="8631936" cy="594360"/>
          </a:xfrm>
          <a:prstGeom prst="rect">
            <a:avLst/>
          </a:prstGeom>
          <a:solidFill>
            <a:srgbClr val="F8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黑客松前必做：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[紅] 執行 fetch_lvpr + train_xgboost（XGBoost 模型）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[紅] 實作 antifraud/ 目錄（Crew 7 5 個模組）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[黃] 申請 LINE LIFF App + 設定 VITE_LIFF_ID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[黃] AdminCaseDetailPage 加入 Crew 7 進度卡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黑客松分工建議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個角色平行作業，最大化效率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011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201168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後端工程師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554480"/>
            <a:ext cx="18288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antifraud/ 目錄（Crew 7）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個偵測模組程式碼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workflowService 整合 Crew 7 並行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creditReportGenerator 加第 7 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960120"/>
            <a:ext cx="201168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96012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 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32888" y="11887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工程師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1554480"/>
            <a:ext cx="18288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fetch_lvpr.py 抓取資料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train_xgboost.py 訓練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MAPE 15% 以內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 FastAPI 推論服務正常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0288" y="960120"/>
            <a:ext cx="2011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960120"/>
            <a:ext cx="2011680" cy="53035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96012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 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0016" y="11887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前端工程師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81728" y="1554480"/>
            <a:ext cx="18288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 LINE LIFF App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VITE_LIFF_ID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AdminPage 加 Crew 7 進度卡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確認完整 Demo 流程跑通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57416" y="960120"/>
            <a:ext cx="2011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960120"/>
            <a:ext cx="2011680" cy="5303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96012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 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67144" y="11887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負責人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48856" y="1554480"/>
            <a:ext cx="18288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準備客戶 + 行員 Demo 腳本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 Mock 測試資料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演練端到端 Demo 流程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準備簡報與口頭說明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243D70">
              <a:alpha val="50000"/>
            </a:srgbClr>
          </a:solidFill>
          <a:ln w="12700">
            <a:solidFill>
              <a:srgbClr val="243D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-914400"/>
            <a:ext cx="5029200" cy="5029200"/>
          </a:xfrm>
          <a:prstGeom prst="ellipse">
            <a:avLst/>
          </a:prstGeom>
          <a:solidFill>
            <a:srgbClr val="1A2F58">
              <a:alpha val="60000"/>
            </a:srgbClr>
          </a:solidFill>
          <a:ln w="12700">
            <a:solidFill>
              <a:srgbClr val="1A2F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77240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讓 AI 當副駕駛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讓行員當機長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行員不用再當「查資料的機器」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5 分鐘完成過去 2 天的徵審工作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621024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 提供依據，人類做最終決策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062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420624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42062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420624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42062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Bot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420624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42062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2062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35240" y="4206240"/>
            <a:ext cx="1298448" cy="274320"/>
          </a:xfrm>
          <a:prstGeom prst="rect">
            <a:avLst/>
          </a:prstGeom>
          <a:solidFill>
            <a:srgbClr val="243D70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42062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分行神隊友：個金 Co-Pilot 領航員  ·  黑客松 Demo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分行神隊友：個金 Co-Pilot 領航員</dc:title>
  <dc:subject>PptxGenJS Presentation</dc:subject>
  <dc:creator>個金 Co-Pilot 領航員</dc:creator>
  <cp:lastModifiedBy>個金 Co-Pilot 領航員</cp:lastModifiedBy>
  <cp:revision>1</cp:revision>
  <dcterms:created xsi:type="dcterms:W3CDTF">2026-03-29T15:41:46Z</dcterms:created>
  <dcterms:modified xsi:type="dcterms:W3CDTF">2026-03-29T15:41:46Z</dcterms:modified>
</cp:coreProperties>
</file>